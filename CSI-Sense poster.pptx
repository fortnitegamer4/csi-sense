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Lst>
  <p:sldSz cy="21945600" cx="32918400"/>
  <p:notesSz cx="31235650" cy="21126450"/>
  <p:embeddedFontLst>
    <p:embeddedFont>
      <p:font typeface="Proxima Nova"/>
      <p:regular r:id="rId6"/>
      <p:bold r:id="rId7"/>
      <p:italic r:id="rId8"/>
      <p:boldItalic r:id="rId9"/>
    </p:embeddedFont>
    <p:embeddedFont>
      <p:font typeface="Aldrich"/>
      <p:regular r:id="rId10"/>
    </p:embeddedFont>
    <p:embeddedFont>
      <p:font typeface="Inter"/>
      <p:regular r:id="rId11"/>
      <p:bold r:id="rId12"/>
      <p:italic r:id="rId13"/>
      <p:boldItalic r:id="rId14"/>
    </p:embeddedFont>
    <p:embeddedFont>
      <p:font typeface="Roboto Mono"/>
      <p:regular r:id="rId15"/>
      <p:bold r:id="rId16"/>
      <p:italic r:id="rId17"/>
      <p:boldItalic r:id="rId18"/>
    </p:embeddedFont>
    <p:embeddedFont>
      <p:font typeface="DM Sans"/>
      <p:regular r:id="rId19"/>
      <p:bold r:id="rId20"/>
      <p:italic r:id="rId21"/>
      <p:boldItalic r:id="rId22"/>
    </p:embeddedFont>
    <p:embeddedFont>
      <p:font typeface="Archiv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hTW/uBZYl99QAF6h5jAqScD2hkP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DMSans-bold.fntdata"/><Relationship Id="rId22" Type="http://schemas.openxmlformats.org/officeDocument/2006/relationships/font" Target="fonts/DMSans-boldItalic.fntdata"/><Relationship Id="rId21" Type="http://schemas.openxmlformats.org/officeDocument/2006/relationships/font" Target="fonts/DMSans-italic.fntdata"/><Relationship Id="rId24" Type="http://schemas.openxmlformats.org/officeDocument/2006/relationships/font" Target="fonts/Archivo-bold.fntdata"/><Relationship Id="rId23" Type="http://schemas.openxmlformats.org/officeDocument/2006/relationships/font" Target="fonts/Archivo-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font" Target="fonts/ProximaNova-boldItalic.fntdata"/><Relationship Id="rId26" Type="http://schemas.openxmlformats.org/officeDocument/2006/relationships/font" Target="fonts/Archivo-boldItalic.fntdata"/><Relationship Id="rId25" Type="http://schemas.openxmlformats.org/officeDocument/2006/relationships/font" Target="fonts/Archivo-italic.fntdata"/><Relationship Id="rId27" Type="http://customschemas.google.com/relationships/presentationmetadata" Target="metadata"/><Relationship Id="rId5" Type="http://schemas.openxmlformats.org/officeDocument/2006/relationships/slide" Target="slides/slide1.xml"/><Relationship Id="rId6" Type="http://schemas.openxmlformats.org/officeDocument/2006/relationships/font" Target="fonts/ProximaNova-regular.fntdata"/><Relationship Id="rId7" Type="http://schemas.openxmlformats.org/officeDocument/2006/relationships/font" Target="fonts/ProximaNova-bold.fntdata"/><Relationship Id="rId8" Type="http://schemas.openxmlformats.org/officeDocument/2006/relationships/font" Target="fonts/ProximaNova-italic.fntdata"/><Relationship Id="rId11" Type="http://schemas.openxmlformats.org/officeDocument/2006/relationships/font" Target="fonts/Inter-regular.fntdata"/><Relationship Id="rId10" Type="http://schemas.openxmlformats.org/officeDocument/2006/relationships/font" Target="fonts/Aldrich-regular.fntdata"/><Relationship Id="rId13" Type="http://schemas.openxmlformats.org/officeDocument/2006/relationships/font" Target="fonts/Inter-italic.fntdata"/><Relationship Id="rId12" Type="http://schemas.openxmlformats.org/officeDocument/2006/relationships/font" Target="fonts/Inter-bold.fntdata"/><Relationship Id="rId15" Type="http://schemas.openxmlformats.org/officeDocument/2006/relationships/font" Target="fonts/RobotoMono-regular.fntdata"/><Relationship Id="rId14" Type="http://schemas.openxmlformats.org/officeDocument/2006/relationships/font" Target="fonts/Inter-boldItalic.fntdata"/><Relationship Id="rId17" Type="http://schemas.openxmlformats.org/officeDocument/2006/relationships/font" Target="fonts/RobotoMono-italic.fntdata"/><Relationship Id="rId16" Type="http://schemas.openxmlformats.org/officeDocument/2006/relationships/font" Target="fonts/RobotoMono-bold.fntdata"/><Relationship Id="rId19" Type="http://schemas.openxmlformats.org/officeDocument/2006/relationships/font" Target="fonts/DMSans-regular.fntdata"/><Relationship Id="rId18" Type="http://schemas.openxmlformats.org/officeDocument/2006/relationships/font" Target="fonts/RobotoMono-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5206975" y="1584475"/>
            <a:ext cx="20824800" cy="7922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3123550" y="10035050"/>
            <a:ext cx="24988500" cy="95069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e14f18a840_2_0:notes"/>
          <p:cNvSpPr txBox="1"/>
          <p:nvPr>
            <p:ph idx="1" type="body"/>
          </p:nvPr>
        </p:nvSpPr>
        <p:spPr>
          <a:xfrm>
            <a:off x="3123550" y="10035050"/>
            <a:ext cx="24988500" cy="9507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 name="Google Shape;54;g3e14f18a840_2_0:notes"/>
          <p:cNvSpPr/>
          <p:nvPr>
            <p:ph idx="2" type="sldImg"/>
          </p:nvPr>
        </p:nvSpPr>
        <p:spPr>
          <a:xfrm>
            <a:off x="5206975" y="1584475"/>
            <a:ext cx="20824800" cy="7922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8" name="Shape 8"/>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9" name="Shape 9"/>
        <p:cNvGrpSpPr/>
        <p:nvPr/>
      </p:nvGrpSpPr>
      <p:grpSpPr>
        <a:xfrm>
          <a:off x="0" y="0"/>
          <a:ext cx="0" cy="0"/>
          <a:chOff x="0" y="0"/>
          <a:chExt cx="0" cy="0"/>
        </a:xfrm>
      </p:grpSpPr>
      <p:sp>
        <p:nvSpPr>
          <p:cNvPr id="10" name="Google Shape;10;p4"/>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 name="Google Shape;11;p4"/>
          <p:cNvSpPr txBox="1"/>
          <p:nvPr>
            <p:ph idx="1" type="subTitle"/>
          </p:nvPr>
        </p:nvSpPr>
        <p:spPr>
          <a:xfrm>
            <a:off x="1645920" y="5135040"/>
            <a:ext cx="28966680" cy="12728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2" name="Shape 12"/>
        <p:cNvGrpSpPr/>
        <p:nvPr/>
      </p:nvGrpSpPr>
      <p:grpSpPr>
        <a:xfrm>
          <a:off x="0" y="0"/>
          <a:ext cx="0" cy="0"/>
          <a:chOff x="0" y="0"/>
          <a:chExt cx="0" cy="0"/>
        </a:xfrm>
      </p:grpSpPr>
      <p:sp>
        <p:nvSpPr>
          <p:cNvPr id="13" name="Google Shape;13;p5"/>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5"/>
          <p:cNvSpPr txBox="1"/>
          <p:nvPr>
            <p:ph idx="1" type="body"/>
          </p:nvPr>
        </p:nvSpPr>
        <p:spPr>
          <a:xfrm>
            <a:off x="1645920" y="5135040"/>
            <a:ext cx="28966680" cy="1272816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5" name="Shape 15"/>
        <p:cNvGrpSpPr/>
        <p:nvPr/>
      </p:nvGrpSpPr>
      <p:grpSpPr>
        <a:xfrm>
          <a:off x="0" y="0"/>
          <a:ext cx="0" cy="0"/>
          <a:chOff x="0" y="0"/>
          <a:chExt cx="0" cy="0"/>
        </a:xfrm>
      </p:grpSpPr>
      <p:sp>
        <p:nvSpPr>
          <p:cNvPr id="16" name="Google Shape;16;p6"/>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6"/>
          <p:cNvSpPr txBox="1"/>
          <p:nvPr>
            <p:ph idx="1" type="body"/>
          </p:nvPr>
        </p:nvSpPr>
        <p:spPr>
          <a:xfrm>
            <a:off x="1645920" y="5135040"/>
            <a:ext cx="14135400" cy="1272816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8" name="Google Shape;18;p6"/>
          <p:cNvSpPr txBox="1"/>
          <p:nvPr>
            <p:ph idx="2" type="body"/>
          </p:nvPr>
        </p:nvSpPr>
        <p:spPr>
          <a:xfrm>
            <a:off x="16488360" y="5135040"/>
            <a:ext cx="14135400" cy="1272816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 name="Shape 19"/>
        <p:cNvGrpSpPr/>
        <p:nvPr/>
      </p:nvGrpSpPr>
      <p:grpSpPr>
        <a:xfrm>
          <a:off x="0" y="0"/>
          <a:ext cx="0" cy="0"/>
          <a:chOff x="0" y="0"/>
          <a:chExt cx="0" cy="0"/>
        </a:xfrm>
      </p:grpSpPr>
      <p:sp>
        <p:nvSpPr>
          <p:cNvPr id="20" name="Google Shape;20;p7"/>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1" name="Shape 21"/>
        <p:cNvGrpSpPr/>
        <p:nvPr/>
      </p:nvGrpSpPr>
      <p:grpSpPr>
        <a:xfrm>
          <a:off x="0" y="0"/>
          <a:ext cx="0" cy="0"/>
          <a:chOff x="0" y="0"/>
          <a:chExt cx="0" cy="0"/>
        </a:xfrm>
      </p:grpSpPr>
      <p:sp>
        <p:nvSpPr>
          <p:cNvPr id="22" name="Google Shape;22;p8"/>
          <p:cNvSpPr txBox="1"/>
          <p:nvPr>
            <p:ph idx="1" type="subTitle"/>
          </p:nvPr>
        </p:nvSpPr>
        <p:spPr>
          <a:xfrm>
            <a:off x="1645920" y="874080"/>
            <a:ext cx="29625120" cy="169891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3" name="Shape 23"/>
        <p:cNvGrpSpPr/>
        <p:nvPr/>
      </p:nvGrpSpPr>
      <p:grpSpPr>
        <a:xfrm>
          <a:off x="0" y="0"/>
          <a:ext cx="0" cy="0"/>
          <a:chOff x="0" y="0"/>
          <a:chExt cx="0" cy="0"/>
        </a:xfrm>
      </p:grpSpPr>
      <p:sp>
        <p:nvSpPr>
          <p:cNvPr id="24" name="Google Shape;24;p9"/>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9"/>
          <p:cNvSpPr txBox="1"/>
          <p:nvPr>
            <p:ph idx="1" type="body"/>
          </p:nvPr>
        </p:nvSpPr>
        <p:spPr>
          <a:xfrm>
            <a:off x="1645920" y="5135040"/>
            <a:ext cx="1413540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6" name="Google Shape;26;p9"/>
          <p:cNvSpPr txBox="1"/>
          <p:nvPr>
            <p:ph idx="2" type="body"/>
          </p:nvPr>
        </p:nvSpPr>
        <p:spPr>
          <a:xfrm>
            <a:off x="1645920" y="11783160"/>
            <a:ext cx="1413540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7" name="Google Shape;27;p9"/>
          <p:cNvSpPr txBox="1"/>
          <p:nvPr>
            <p:ph idx="3" type="body"/>
          </p:nvPr>
        </p:nvSpPr>
        <p:spPr>
          <a:xfrm>
            <a:off x="16488360" y="5135040"/>
            <a:ext cx="14135400" cy="1272816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8" name="Shape 28"/>
        <p:cNvGrpSpPr/>
        <p:nvPr/>
      </p:nvGrpSpPr>
      <p:grpSpPr>
        <a:xfrm>
          <a:off x="0" y="0"/>
          <a:ext cx="0" cy="0"/>
          <a:chOff x="0" y="0"/>
          <a:chExt cx="0" cy="0"/>
        </a:xfrm>
      </p:grpSpPr>
      <p:sp>
        <p:nvSpPr>
          <p:cNvPr id="29" name="Google Shape;29;p10"/>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0"/>
          <p:cNvSpPr txBox="1"/>
          <p:nvPr>
            <p:ph idx="1" type="body"/>
          </p:nvPr>
        </p:nvSpPr>
        <p:spPr>
          <a:xfrm>
            <a:off x="1645920" y="5135040"/>
            <a:ext cx="14135400" cy="1272816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1" name="Google Shape;31;p10"/>
          <p:cNvSpPr txBox="1"/>
          <p:nvPr>
            <p:ph idx="2" type="body"/>
          </p:nvPr>
        </p:nvSpPr>
        <p:spPr>
          <a:xfrm>
            <a:off x="16488360" y="5135040"/>
            <a:ext cx="1413540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2" name="Google Shape;32;p10"/>
          <p:cNvSpPr txBox="1"/>
          <p:nvPr>
            <p:ph idx="3" type="body"/>
          </p:nvPr>
        </p:nvSpPr>
        <p:spPr>
          <a:xfrm>
            <a:off x="16488360" y="11783160"/>
            <a:ext cx="1413540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3" name="Shape 33"/>
        <p:cNvGrpSpPr/>
        <p:nvPr/>
      </p:nvGrpSpPr>
      <p:grpSpPr>
        <a:xfrm>
          <a:off x="0" y="0"/>
          <a:ext cx="0" cy="0"/>
          <a:chOff x="0" y="0"/>
          <a:chExt cx="0" cy="0"/>
        </a:xfrm>
      </p:grpSpPr>
      <p:sp>
        <p:nvSpPr>
          <p:cNvPr id="34" name="Google Shape;34;p11"/>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1"/>
          <p:cNvSpPr txBox="1"/>
          <p:nvPr>
            <p:ph idx="1" type="body"/>
          </p:nvPr>
        </p:nvSpPr>
        <p:spPr>
          <a:xfrm>
            <a:off x="1645920" y="5135040"/>
            <a:ext cx="1413540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6" name="Google Shape;36;p11"/>
          <p:cNvSpPr txBox="1"/>
          <p:nvPr>
            <p:ph idx="2" type="body"/>
          </p:nvPr>
        </p:nvSpPr>
        <p:spPr>
          <a:xfrm>
            <a:off x="16488360" y="5135040"/>
            <a:ext cx="1413540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7" name="Google Shape;37;p11"/>
          <p:cNvSpPr txBox="1"/>
          <p:nvPr>
            <p:ph idx="3" type="body"/>
          </p:nvPr>
        </p:nvSpPr>
        <p:spPr>
          <a:xfrm>
            <a:off x="1645920" y="11783160"/>
            <a:ext cx="2896632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38" name="Shape 38"/>
        <p:cNvGrpSpPr/>
        <p:nvPr/>
      </p:nvGrpSpPr>
      <p:grpSpPr>
        <a:xfrm>
          <a:off x="0" y="0"/>
          <a:ext cx="0" cy="0"/>
          <a:chOff x="0" y="0"/>
          <a:chExt cx="0" cy="0"/>
        </a:xfrm>
      </p:grpSpPr>
      <p:sp>
        <p:nvSpPr>
          <p:cNvPr id="39" name="Google Shape;39;p12"/>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2"/>
          <p:cNvSpPr txBox="1"/>
          <p:nvPr>
            <p:ph idx="1" type="body"/>
          </p:nvPr>
        </p:nvSpPr>
        <p:spPr>
          <a:xfrm>
            <a:off x="1645920" y="5135040"/>
            <a:ext cx="2896668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1" name="Google Shape;41;p12"/>
          <p:cNvSpPr txBox="1"/>
          <p:nvPr>
            <p:ph idx="2" type="body"/>
          </p:nvPr>
        </p:nvSpPr>
        <p:spPr>
          <a:xfrm>
            <a:off x="1645920" y="11783160"/>
            <a:ext cx="2896668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2" name="Shape 42"/>
        <p:cNvGrpSpPr/>
        <p:nvPr/>
      </p:nvGrpSpPr>
      <p:grpSpPr>
        <a:xfrm>
          <a:off x="0" y="0"/>
          <a:ext cx="0" cy="0"/>
          <a:chOff x="0" y="0"/>
          <a:chExt cx="0" cy="0"/>
        </a:xfrm>
      </p:grpSpPr>
      <p:sp>
        <p:nvSpPr>
          <p:cNvPr id="43" name="Google Shape;43;p13"/>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3"/>
          <p:cNvSpPr txBox="1"/>
          <p:nvPr>
            <p:ph idx="1" type="body"/>
          </p:nvPr>
        </p:nvSpPr>
        <p:spPr>
          <a:xfrm>
            <a:off x="1645920" y="5135040"/>
            <a:ext cx="1413540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5" name="Google Shape;45;p13"/>
          <p:cNvSpPr txBox="1"/>
          <p:nvPr>
            <p:ph idx="2" type="body"/>
          </p:nvPr>
        </p:nvSpPr>
        <p:spPr>
          <a:xfrm>
            <a:off x="16488360" y="5135040"/>
            <a:ext cx="1413540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6" name="Google Shape;46;p13"/>
          <p:cNvSpPr txBox="1"/>
          <p:nvPr>
            <p:ph idx="3" type="body"/>
          </p:nvPr>
        </p:nvSpPr>
        <p:spPr>
          <a:xfrm>
            <a:off x="16488360" y="11783160"/>
            <a:ext cx="1413540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7" name="Google Shape;47;p13"/>
          <p:cNvSpPr txBox="1"/>
          <p:nvPr>
            <p:ph idx="4" type="body"/>
          </p:nvPr>
        </p:nvSpPr>
        <p:spPr>
          <a:xfrm>
            <a:off x="1645920" y="11783160"/>
            <a:ext cx="1413540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48" name="Shape 48"/>
        <p:cNvGrpSpPr/>
        <p:nvPr/>
      </p:nvGrpSpPr>
      <p:grpSpPr>
        <a:xfrm>
          <a:off x="0" y="0"/>
          <a:ext cx="0" cy="0"/>
          <a:chOff x="0" y="0"/>
          <a:chExt cx="0" cy="0"/>
        </a:xfrm>
      </p:grpSpPr>
      <p:sp>
        <p:nvSpPr>
          <p:cNvPr id="49" name="Google Shape;49;p14"/>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14"/>
          <p:cNvSpPr txBox="1"/>
          <p:nvPr>
            <p:ph idx="1" type="body"/>
          </p:nvPr>
        </p:nvSpPr>
        <p:spPr>
          <a:xfrm>
            <a:off x="1645920" y="5135040"/>
            <a:ext cx="1413540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1" name="Google Shape;51;p14"/>
          <p:cNvSpPr txBox="1"/>
          <p:nvPr>
            <p:ph idx="2" type="body"/>
          </p:nvPr>
        </p:nvSpPr>
        <p:spPr>
          <a:xfrm>
            <a:off x="16488360" y="5135040"/>
            <a:ext cx="1413540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 name="Shape 5"/>
        <p:cNvGrpSpPr/>
        <p:nvPr/>
      </p:nvGrpSpPr>
      <p:grpSpPr>
        <a:xfrm>
          <a:off x="0" y="0"/>
          <a:ext cx="0" cy="0"/>
          <a:chOff x="0" y="0"/>
          <a:chExt cx="0" cy="0"/>
        </a:xfrm>
      </p:grpSpPr>
      <p:sp>
        <p:nvSpPr>
          <p:cNvPr id="6" name="Google Shape;6;p2"/>
          <p:cNvSpPr txBox="1"/>
          <p:nvPr>
            <p:ph type="title"/>
          </p:nvPr>
        </p:nvSpPr>
        <p:spPr>
          <a:xfrm>
            <a:off x="1645920" y="874080"/>
            <a:ext cx="29625120" cy="366372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
          <p:cNvSpPr txBox="1"/>
          <p:nvPr>
            <p:ph idx="1" type="body"/>
          </p:nvPr>
        </p:nvSpPr>
        <p:spPr>
          <a:xfrm>
            <a:off x="1645920" y="5135040"/>
            <a:ext cx="28966680" cy="1272816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7.png"/><Relationship Id="rId10" Type="http://schemas.openxmlformats.org/officeDocument/2006/relationships/image" Target="../media/image2.png"/><Relationship Id="rId12" Type="http://schemas.openxmlformats.org/officeDocument/2006/relationships/image" Target="../media/image6.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9.png"/><Relationship Id="rId9" Type="http://schemas.openxmlformats.org/officeDocument/2006/relationships/image" Target="../media/image3.png"/><Relationship Id="rId5" Type="http://schemas.openxmlformats.org/officeDocument/2006/relationships/image" Target="../media/image10.png"/><Relationship Id="rId6" Type="http://schemas.openxmlformats.org/officeDocument/2006/relationships/image" Target="../media/image5.png"/><Relationship Id="rId7" Type="http://schemas.openxmlformats.org/officeDocument/2006/relationships/image" Target="../media/image8.png"/><Relationship Id="rId8"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g3e14f18a840_2_0"/>
          <p:cNvSpPr/>
          <p:nvPr/>
        </p:nvSpPr>
        <p:spPr>
          <a:xfrm>
            <a:off x="2064949" y="545700"/>
            <a:ext cx="4018200" cy="933600"/>
          </a:xfrm>
          <a:prstGeom prst="flowChartDelay">
            <a:avLst/>
          </a:prstGeom>
          <a:solidFill>
            <a:srgbClr val="E06666"/>
          </a:solidFill>
          <a:ln cap="flat" cmpd="sng" w="9525">
            <a:solidFill>
              <a:srgbClr val="EEEEEE"/>
            </a:solidFill>
            <a:prstDash val="solid"/>
            <a:round/>
            <a:headEnd len="sm" w="sm" type="none"/>
            <a:tailEnd len="sm" w="sm" type="none"/>
          </a:ln>
        </p:spPr>
        <p:txBody>
          <a:bodyPr anchorCtr="0" anchor="ctr" bIns="349450" lIns="349450" spcFirstLastPara="1" rIns="349450" wrap="square" tIns="349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g3e14f18a840_2_0"/>
          <p:cNvSpPr/>
          <p:nvPr/>
        </p:nvSpPr>
        <p:spPr>
          <a:xfrm>
            <a:off x="6556090" y="-16192"/>
            <a:ext cx="18135600" cy="2057400"/>
          </a:xfrm>
          <a:prstGeom prst="roundRect">
            <a:avLst>
              <a:gd fmla="val 16667" name="adj"/>
            </a:avLst>
          </a:prstGeom>
          <a:solidFill>
            <a:srgbClr val="CFE2F3"/>
          </a:solidFill>
          <a:ln cap="flat" cmpd="sng" w="9525">
            <a:solidFill>
              <a:srgbClr val="EEEEEE"/>
            </a:solidFill>
            <a:prstDash val="solid"/>
            <a:round/>
            <a:headEnd len="sm" w="sm" type="none"/>
            <a:tailEnd len="sm" w="sm" type="none"/>
          </a:ln>
        </p:spPr>
        <p:txBody>
          <a:bodyPr anchorCtr="0" anchor="ctr" bIns="349450" lIns="349450" spcFirstLastPara="1" rIns="349450" wrap="square" tIns="349450">
            <a:noAutofit/>
          </a:bodyPr>
          <a:lstStyle/>
          <a:p>
            <a:pPr indent="457200" lvl="0" marL="3657600" marR="0" rtl="0" algn="l">
              <a:lnSpc>
                <a:spcPct val="100000"/>
              </a:lnSpc>
              <a:spcBef>
                <a:spcPts val="0"/>
              </a:spcBef>
              <a:spcAft>
                <a:spcPts val="0"/>
              </a:spcAft>
              <a:buClr>
                <a:srgbClr val="000000"/>
              </a:buClr>
              <a:buSzPts val="9900"/>
              <a:buFont typeface="Arial"/>
              <a:buNone/>
            </a:pPr>
            <a:r>
              <a:rPr b="1" lang="en-US" sz="9900">
                <a:latin typeface="Proxima Nova"/>
                <a:ea typeface="Proxima Nova"/>
                <a:cs typeface="Proxima Nova"/>
                <a:sym typeface="Proxima Nova"/>
                <a:extLst>
                  <a:ext uri="http://customooxmlschemas.google.com/">
                    <go:slidesCustomData xmlns:go="http://customooxmlschemas.google.com/" textRoundtripDataId="0"/>
                  </a:ext>
                </a:extLst>
              </a:rPr>
              <a:t>CSI-Sense</a:t>
            </a:r>
            <a:endParaRPr b="1" i="0" sz="4200" u="none" cap="none" strike="noStrike">
              <a:solidFill>
                <a:srgbClr val="000000"/>
              </a:solidFill>
              <a:latin typeface="Proxima Nova"/>
              <a:ea typeface="Proxima Nova"/>
              <a:cs typeface="Proxima Nova"/>
              <a:sym typeface="Proxima Nova"/>
            </a:endParaRPr>
          </a:p>
          <a:p>
            <a:pPr indent="0" lvl="0" marL="0" rtl="0" algn="ctr">
              <a:spcBef>
                <a:spcPts val="0"/>
              </a:spcBef>
              <a:spcAft>
                <a:spcPts val="0"/>
              </a:spcAft>
              <a:buClr>
                <a:schemeClr val="dk1"/>
              </a:buClr>
              <a:buSzPts val="990"/>
              <a:buFont typeface="Arial"/>
              <a:buNone/>
            </a:pPr>
            <a:r>
              <a:rPr lang="en-US" sz="4000">
                <a:solidFill>
                  <a:schemeClr val="dk1"/>
                </a:solidFill>
                <a:latin typeface="Aldrich"/>
                <a:ea typeface="Aldrich"/>
                <a:cs typeface="Aldrich"/>
                <a:sym typeface="Aldrich"/>
              </a:rPr>
              <a:t>Detecting Presence Behind Obstructions For </a:t>
            </a:r>
            <a:r>
              <a:rPr lang="en-US" sz="4000">
                <a:solidFill>
                  <a:srgbClr val="FF0000"/>
                </a:solidFill>
                <a:latin typeface="Aldrich"/>
                <a:ea typeface="Aldrich"/>
                <a:cs typeface="Aldrich"/>
                <a:sym typeface="Aldrich"/>
              </a:rPr>
              <a:t>S.A.R.</a:t>
            </a:r>
            <a:r>
              <a:rPr lang="en-US" sz="4000">
                <a:solidFill>
                  <a:schemeClr val="dk1"/>
                </a:solidFill>
                <a:latin typeface="Aldrich"/>
                <a:ea typeface="Aldrich"/>
                <a:cs typeface="Aldrich"/>
                <a:sym typeface="Aldrich"/>
              </a:rPr>
              <a:t> Using </a:t>
            </a:r>
            <a:r>
              <a:rPr lang="en-US" sz="4000">
                <a:solidFill>
                  <a:srgbClr val="FF0000"/>
                </a:solidFill>
                <a:latin typeface="Aldrich"/>
                <a:ea typeface="Aldrich"/>
                <a:cs typeface="Aldrich"/>
                <a:sym typeface="Aldrich"/>
              </a:rPr>
              <a:t>WiFi</a:t>
            </a:r>
            <a:endParaRPr b="1" sz="4200">
              <a:latin typeface="Proxima Nova"/>
              <a:ea typeface="Proxima Nova"/>
              <a:cs typeface="Proxima Nova"/>
              <a:sym typeface="Proxima Nova"/>
            </a:endParaRPr>
          </a:p>
        </p:txBody>
      </p:sp>
      <p:sp>
        <p:nvSpPr>
          <p:cNvPr id="58" name="Google Shape;58;g3e14f18a840_2_0"/>
          <p:cNvSpPr/>
          <p:nvPr/>
        </p:nvSpPr>
        <p:spPr>
          <a:xfrm>
            <a:off x="151850" y="2109379"/>
            <a:ext cx="9312900" cy="933600"/>
          </a:xfrm>
          <a:prstGeom prst="roundRect">
            <a:avLst>
              <a:gd fmla="val 16667" name="adj"/>
            </a:avLst>
          </a:prstGeom>
          <a:solidFill>
            <a:srgbClr val="CFE2F3"/>
          </a:solidFill>
          <a:ln cap="flat" cmpd="sng" w="9525">
            <a:solidFill>
              <a:srgbClr val="EEEEEE"/>
            </a:solidFill>
            <a:prstDash val="solid"/>
            <a:round/>
            <a:headEnd len="sm" w="sm" type="none"/>
            <a:tailEnd len="sm" w="sm" type="none"/>
          </a:ln>
        </p:spPr>
        <p:txBody>
          <a:bodyPr anchorCtr="0" anchor="ctr" bIns="349450" lIns="349450" spcFirstLastPara="1" rIns="349450" wrap="square" tIns="349450">
            <a:noAutofit/>
          </a:bodyPr>
          <a:lstStyle/>
          <a:p>
            <a:pPr indent="0" lvl="0" marL="0" marR="0" rtl="0" algn="ctr">
              <a:lnSpc>
                <a:spcPct val="100000"/>
              </a:lnSpc>
              <a:spcBef>
                <a:spcPts val="0"/>
              </a:spcBef>
              <a:spcAft>
                <a:spcPts val="0"/>
              </a:spcAft>
              <a:buClr>
                <a:srgbClr val="000000"/>
              </a:buClr>
              <a:buSzPts val="5400"/>
              <a:buFont typeface="Arial"/>
              <a:buNone/>
            </a:pPr>
            <a:r>
              <a:rPr b="1" i="0" lang="en-US" sz="5400" u="none" cap="none" strike="noStrike">
                <a:solidFill>
                  <a:srgbClr val="000000"/>
                </a:solidFill>
                <a:latin typeface="Proxima Nova"/>
                <a:ea typeface="Proxima Nova"/>
                <a:cs typeface="Proxima Nova"/>
                <a:sym typeface="Proxima Nova"/>
              </a:rPr>
              <a:t>Introduction</a:t>
            </a:r>
            <a:endParaRPr b="1" i="0" sz="5400" u="none" cap="none" strike="noStrike">
              <a:solidFill>
                <a:srgbClr val="000000"/>
              </a:solidFill>
              <a:latin typeface="Proxima Nova"/>
              <a:ea typeface="Proxima Nova"/>
              <a:cs typeface="Proxima Nova"/>
              <a:sym typeface="Proxima Nova"/>
            </a:endParaRPr>
          </a:p>
        </p:txBody>
      </p:sp>
      <p:sp>
        <p:nvSpPr>
          <p:cNvPr id="59" name="Google Shape;59;g3e14f18a840_2_0"/>
          <p:cNvSpPr txBox="1"/>
          <p:nvPr/>
        </p:nvSpPr>
        <p:spPr>
          <a:xfrm>
            <a:off x="-107975" y="2728484"/>
            <a:ext cx="9909900" cy="6955200"/>
          </a:xfrm>
          <a:prstGeom prst="rect">
            <a:avLst/>
          </a:prstGeom>
          <a:noFill/>
          <a:ln>
            <a:noFill/>
          </a:ln>
        </p:spPr>
        <p:txBody>
          <a:bodyPr anchorCtr="0" anchor="t" bIns="349450" lIns="349450" spcFirstLastPara="1" rIns="349450" wrap="square" tIns="349450">
            <a:spAutoFit/>
          </a:bodyPr>
          <a:lstStyle/>
          <a:p>
            <a:pPr indent="0" lvl="0" marL="0" marR="0" rtl="0" algn="just">
              <a:lnSpc>
                <a:spcPct val="100000"/>
              </a:lnSpc>
              <a:spcBef>
                <a:spcPts val="0"/>
              </a:spcBef>
              <a:spcAft>
                <a:spcPts val="0"/>
              </a:spcAft>
              <a:buClr>
                <a:srgbClr val="000000"/>
              </a:buClr>
              <a:buSzPts val="3400"/>
              <a:buFont typeface="Arial"/>
              <a:buNone/>
            </a:pPr>
            <a:r>
              <a:rPr lang="en-US" sz="2900">
                <a:latin typeface="Inter"/>
                <a:ea typeface="Inter"/>
                <a:cs typeface="Inter"/>
                <a:sym typeface="Inter"/>
              </a:rPr>
              <a:t>Many search-and-rescue scenarios involve locating individuals behind walls or debris, where traditional cameras and sensors fail due to lack of visibility. This makes detection slow and difficult in time-critical situations. Using widely available WiFi signals, subtle changes in signal behavior can reveal the presence of a person without requiring direct line of sight. Facing this challenge, we developed a system that uses Channel State Information (CSI) to detect human presence through obstructions. As shown in Fig. 1, the data is formatted as 3-D matrices of amplitude and phase values that can be derived from a “CSI” scalar, which is a complex value represented by H.</a:t>
            </a:r>
            <a:endParaRPr b="0" i="0" sz="2900" u="none" cap="none" strike="noStrike">
              <a:solidFill>
                <a:srgbClr val="000000"/>
              </a:solidFill>
              <a:latin typeface="Inter"/>
              <a:ea typeface="Inter"/>
              <a:cs typeface="Inter"/>
              <a:sym typeface="Inter"/>
            </a:endParaRPr>
          </a:p>
        </p:txBody>
      </p:sp>
      <p:sp>
        <p:nvSpPr>
          <p:cNvPr id="60" name="Google Shape;60;g3e14f18a840_2_0"/>
          <p:cNvSpPr/>
          <p:nvPr/>
        </p:nvSpPr>
        <p:spPr>
          <a:xfrm>
            <a:off x="121550" y="16058158"/>
            <a:ext cx="9343200" cy="933600"/>
          </a:xfrm>
          <a:prstGeom prst="roundRect">
            <a:avLst>
              <a:gd fmla="val 16667" name="adj"/>
            </a:avLst>
          </a:prstGeom>
          <a:solidFill>
            <a:srgbClr val="E06666"/>
          </a:solidFill>
          <a:ln cap="flat" cmpd="sng" w="9525">
            <a:solidFill>
              <a:srgbClr val="EEEEEE"/>
            </a:solidFill>
            <a:prstDash val="solid"/>
            <a:round/>
            <a:headEnd len="sm" w="sm" type="none"/>
            <a:tailEnd len="sm" w="sm" type="none"/>
          </a:ln>
        </p:spPr>
        <p:txBody>
          <a:bodyPr anchorCtr="0" anchor="ctr" bIns="349450" lIns="349450" spcFirstLastPara="1" rIns="349450" wrap="square" tIns="349450">
            <a:noAutofit/>
          </a:bodyPr>
          <a:lstStyle/>
          <a:p>
            <a:pPr indent="0" lvl="0" marL="0" marR="0" rtl="0" algn="ctr">
              <a:lnSpc>
                <a:spcPct val="100000"/>
              </a:lnSpc>
              <a:spcBef>
                <a:spcPts val="0"/>
              </a:spcBef>
              <a:spcAft>
                <a:spcPts val="0"/>
              </a:spcAft>
              <a:buClr>
                <a:srgbClr val="000000"/>
              </a:buClr>
              <a:buSzPts val="5400"/>
              <a:buFont typeface="Arial"/>
              <a:buNone/>
            </a:pPr>
            <a:r>
              <a:rPr b="1" i="0" lang="en-US" sz="5400" u="none" cap="none" strike="noStrike">
                <a:solidFill>
                  <a:srgbClr val="000000"/>
                </a:solidFill>
                <a:latin typeface="Proxima Nova"/>
                <a:ea typeface="Proxima Nova"/>
                <a:cs typeface="Proxima Nova"/>
                <a:sym typeface="Proxima Nova"/>
              </a:rPr>
              <a:t>Novelty</a:t>
            </a:r>
            <a:endParaRPr b="1" i="0" sz="5400" u="none" cap="none" strike="noStrike">
              <a:solidFill>
                <a:srgbClr val="000000"/>
              </a:solidFill>
              <a:latin typeface="Proxima Nova"/>
              <a:ea typeface="Proxima Nova"/>
              <a:cs typeface="Proxima Nova"/>
              <a:sym typeface="Proxima Nova"/>
            </a:endParaRPr>
          </a:p>
        </p:txBody>
      </p:sp>
      <p:sp>
        <p:nvSpPr>
          <p:cNvPr id="61" name="Google Shape;61;g3e14f18a840_2_0"/>
          <p:cNvSpPr txBox="1"/>
          <p:nvPr/>
        </p:nvSpPr>
        <p:spPr>
          <a:xfrm>
            <a:off x="1809954" y="420910"/>
            <a:ext cx="4018200" cy="1183200"/>
          </a:xfrm>
          <a:prstGeom prst="rect">
            <a:avLst/>
          </a:prstGeom>
          <a:noFill/>
          <a:ln>
            <a:noFill/>
          </a:ln>
        </p:spPr>
        <p:txBody>
          <a:bodyPr anchorCtr="0" anchor="t" bIns="349450" lIns="349450" spcFirstLastPara="1" rIns="349450" wrap="square" tIns="349450">
            <a:spAutoFit/>
          </a:bodyPr>
          <a:lstStyle/>
          <a:p>
            <a:pPr indent="0" lvl="0" marL="0" marR="0" rtl="0" algn="l">
              <a:lnSpc>
                <a:spcPct val="100000"/>
              </a:lnSpc>
              <a:spcBef>
                <a:spcPts val="0"/>
              </a:spcBef>
              <a:spcAft>
                <a:spcPts val="0"/>
              </a:spcAft>
              <a:buClr>
                <a:srgbClr val="000000"/>
              </a:buClr>
              <a:buSzPts val="3100"/>
              <a:buFont typeface="Arial"/>
              <a:buNone/>
            </a:pPr>
            <a:r>
              <a:rPr b="1" lang="en-US" sz="3100">
                <a:latin typeface="DM Sans"/>
                <a:ea typeface="DM Sans"/>
                <a:cs typeface="DM Sans"/>
                <a:sym typeface="DM Sans"/>
              </a:rPr>
              <a:t>Fabeun Rahman</a:t>
            </a:r>
            <a:endParaRPr b="1" i="0" sz="3100" u="none" cap="none" strike="noStrike">
              <a:solidFill>
                <a:srgbClr val="000000"/>
              </a:solidFill>
              <a:latin typeface="DM Sans"/>
              <a:ea typeface="DM Sans"/>
              <a:cs typeface="DM Sans"/>
              <a:sym typeface="DM Sans"/>
            </a:endParaRPr>
          </a:p>
        </p:txBody>
      </p:sp>
      <p:sp>
        <p:nvSpPr>
          <p:cNvPr id="62" name="Google Shape;62;g3e14f18a840_2_0"/>
          <p:cNvSpPr txBox="1"/>
          <p:nvPr/>
        </p:nvSpPr>
        <p:spPr>
          <a:xfrm>
            <a:off x="-110300" y="16658850"/>
            <a:ext cx="9909900" cy="6216300"/>
          </a:xfrm>
          <a:prstGeom prst="rect">
            <a:avLst/>
          </a:prstGeom>
          <a:noFill/>
          <a:ln>
            <a:noFill/>
          </a:ln>
        </p:spPr>
        <p:txBody>
          <a:bodyPr anchorCtr="0" anchor="t" bIns="349450" lIns="349450" spcFirstLastPara="1" rIns="349450" wrap="square" tIns="349450">
            <a:spAutoFit/>
          </a:bodyPr>
          <a:lstStyle/>
          <a:p>
            <a:pPr indent="0" lvl="0" marL="0" rtl="0" algn="just">
              <a:lnSpc>
                <a:spcPct val="100000"/>
              </a:lnSpc>
              <a:spcBef>
                <a:spcPts val="1200"/>
              </a:spcBef>
              <a:spcAft>
                <a:spcPts val="0"/>
              </a:spcAft>
              <a:buClr>
                <a:schemeClr val="dk1"/>
              </a:buClr>
              <a:buSzPts val="1100"/>
              <a:buFont typeface="Arial"/>
              <a:buNone/>
            </a:pPr>
            <a:r>
              <a:rPr lang="en-US" sz="2900">
                <a:latin typeface="Inter"/>
                <a:ea typeface="Inter"/>
                <a:cs typeface="Inter"/>
                <a:sym typeface="Inter"/>
              </a:rPr>
              <a:t>No prior low-cost system provides reliable presence detection behind obstructions using only commodity WiFi hardware. My approach is novel because it repurposes CSI from everyday wireless signals instead of relying on cameras or expensive radar systems. While many sensing methods require direct visibility, my system can operate in non-line-of-sight (NLOS) conditions. This a it especially useful for S.A.R. scenarios, where responders need fast, accessible tools to detect whether someone may be behind clutter.</a:t>
            </a:r>
            <a:endParaRPr sz="2900">
              <a:latin typeface="Inter"/>
              <a:ea typeface="Inter"/>
              <a:cs typeface="Inter"/>
              <a:sym typeface="Inter"/>
            </a:endParaRPr>
          </a:p>
          <a:p>
            <a:pPr indent="0" lvl="0" marL="0" marR="0" rtl="0" algn="just">
              <a:lnSpc>
                <a:spcPct val="100000"/>
              </a:lnSpc>
              <a:spcBef>
                <a:spcPts val="1200"/>
              </a:spcBef>
              <a:spcAft>
                <a:spcPts val="0"/>
              </a:spcAft>
              <a:buClr>
                <a:srgbClr val="000000"/>
              </a:buClr>
              <a:buSzPts val="3400"/>
              <a:buFont typeface="Arial"/>
              <a:buNone/>
            </a:pPr>
            <a:r>
              <a:t/>
            </a:r>
            <a:endParaRPr sz="2900">
              <a:latin typeface="Inter"/>
              <a:ea typeface="Inter"/>
              <a:cs typeface="Inter"/>
              <a:sym typeface="Inter"/>
            </a:endParaRPr>
          </a:p>
        </p:txBody>
      </p:sp>
      <p:sp>
        <p:nvSpPr>
          <p:cNvPr id="63" name="Google Shape;63;g3e14f18a840_2_0"/>
          <p:cNvSpPr/>
          <p:nvPr/>
        </p:nvSpPr>
        <p:spPr>
          <a:xfrm>
            <a:off x="10026305" y="15343625"/>
            <a:ext cx="10593600" cy="692700"/>
          </a:xfrm>
          <a:prstGeom prst="roundRect">
            <a:avLst>
              <a:gd fmla="val 16667" name="adj"/>
            </a:avLst>
          </a:prstGeom>
          <a:solidFill>
            <a:srgbClr val="E06666"/>
          </a:solidFill>
          <a:ln cap="flat" cmpd="sng" w="9525">
            <a:solidFill>
              <a:srgbClr val="EEEEEE"/>
            </a:solidFill>
            <a:prstDash val="solid"/>
            <a:round/>
            <a:headEnd len="sm" w="sm" type="none"/>
            <a:tailEnd len="sm" w="sm" type="none"/>
          </a:ln>
        </p:spPr>
        <p:txBody>
          <a:bodyPr anchorCtr="0" anchor="ctr" bIns="349450" lIns="349450" spcFirstLastPara="1" rIns="349450" wrap="square" tIns="349450">
            <a:noAutofit/>
          </a:bodyPr>
          <a:lstStyle/>
          <a:p>
            <a:pPr indent="0" lvl="0" marL="0" marR="0" rtl="0" algn="ctr">
              <a:lnSpc>
                <a:spcPct val="100000"/>
              </a:lnSpc>
              <a:spcBef>
                <a:spcPts val="0"/>
              </a:spcBef>
              <a:spcAft>
                <a:spcPts val="0"/>
              </a:spcAft>
              <a:buClr>
                <a:srgbClr val="000000"/>
              </a:buClr>
              <a:buSzPts val="5400"/>
              <a:buFont typeface="Arial"/>
              <a:buNone/>
            </a:pPr>
            <a:r>
              <a:rPr b="1" i="0" lang="en-US" sz="5400" u="none" cap="none" strike="noStrike">
                <a:solidFill>
                  <a:srgbClr val="000000"/>
                </a:solidFill>
                <a:latin typeface="Proxima Nova"/>
                <a:ea typeface="Proxima Nova"/>
                <a:cs typeface="Proxima Nova"/>
                <a:sym typeface="Proxima Nova"/>
              </a:rPr>
              <a:t>Results</a:t>
            </a:r>
            <a:endParaRPr b="1" i="0" sz="5400" u="none" cap="none" strike="noStrike">
              <a:solidFill>
                <a:srgbClr val="000000"/>
              </a:solidFill>
              <a:latin typeface="Proxima Nova"/>
              <a:ea typeface="Proxima Nova"/>
              <a:cs typeface="Proxima Nova"/>
              <a:sym typeface="Proxima Nova"/>
            </a:endParaRPr>
          </a:p>
        </p:txBody>
      </p:sp>
      <p:sp>
        <p:nvSpPr>
          <p:cNvPr id="64" name="Google Shape;64;g3e14f18a840_2_0"/>
          <p:cNvSpPr txBox="1"/>
          <p:nvPr/>
        </p:nvSpPr>
        <p:spPr>
          <a:xfrm>
            <a:off x="9639150" y="15798100"/>
            <a:ext cx="11100300" cy="7620300"/>
          </a:xfrm>
          <a:prstGeom prst="rect">
            <a:avLst/>
          </a:prstGeom>
          <a:noFill/>
          <a:ln>
            <a:noFill/>
          </a:ln>
        </p:spPr>
        <p:txBody>
          <a:bodyPr anchorCtr="0" anchor="t" bIns="349450" lIns="349450" spcFirstLastPara="1" rIns="349450" wrap="square" tIns="349450">
            <a:spAutoFit/>
          </a:bodyPr>
          <a:lstStyle/>
          <a:p>
            <a:pPr indent="0" lvl="0" marL="0" rtl="0" algn="just">
              <a:lnSpc>
                <a:spcPct val="115000"/>
              </a:lnSpc>
              <a:spcBef>
                <a:spcPts val="1200"/>
              </a:spcBef>
              <a:spcAft>
                <a:spcPts val="0"/>
              </a:spcAft>
              <a:buClr>
                <a:schemeClr val="dk1"/>
              </a:buClr>
              <a:buSzPts val="1100"/>
              <a:buFont typeface="Arial"/>
              <a:buNone/>
            </a:pPr>
            <a:r>
              <a:rPr lang="en-US" sz="2900">
                <a:latin typeface="Inter"/>
                <a:ea typeface="Inter"/>
                <a:cs typeface="Inter"/>
                <a:sym typeface="Inter"/>
              </a:rPr>
              <a:t>My system processes WiFi CSI data to estimate whether a person is present behind an obstruction. In testing, it was able to detect presence behind a door, proving that commodity WiFi signals provides useful NLOS sensing. Detection became less reliable with more cluttered environments as seen in Fig 4. The output is visualized through a red intensity overlay, as shown in Fig. 3. As shown in Fig. 5, around subcarrier 110 at 2.35 s, the sleeping condition reaches about 31 compared with about 17 for the empty baseline, indicating that even quiet breathing nearly doubles CSI variability.</a:t>
            </a:r>
            <a:endParaRPr sz="2900">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t/>
            </a:r>
            <a:endParaRPr sz="2900">
              <a:latin typeface="Inter"/>
              <a:ea typeface="Inter"/>
              <a:cs typeface="Inter"/>
              <a:sym typeface="Inter"/>
            </a:endParaRPr>
          </a:p>
          <a:p>
            <a:pPr indent="0" lvl="0" marL="0" marR="0" rtl="0" algn="just">
              <a:lnSpc>
                <a:spcPct val="100000"/>
              </a:lnSpc>
              <a:spcBef>
                <a:spcPts val="1200"/>
              </a:spcBef>
              <a:spcAft>
                <a:spcPts val="0"/>
              </a:spcAft>
              <a:buClr>
                <a:srgbClr val="000000"/>
              </a:buClr>
              <a:buSzPts val="3400"/>
              <a:buFont typeface="Arial"/>
              <a:buNone/>
            </a:pPr>
            <a:r>
              <a:t/>
            </a:r>
            <a:endParaRPr sz="2900">
              <a:latin typeface="Inter"/>
              <a:ea typeface="Inter"/>
              <a:cs typeface="Inter"/>
              <a:sym typeface="Inter"/>
            </a:endParaRPr>
          </a:p>
        </p:txBody>
      </p:sp>
      <p:sp>
        <p:nvSpPr>
          <p:cNvPr id="65" name="Google Shape;65;g3e14f18a840_2_0"/>
          <p:cNvSpPr/>
          <p:nvPr/>
        </p:nvSpPr>
        <p:spPr>
          <a:xfrm>
            <a:off x="10088525" y="7417944"/>
            <a:ext cx="10593600" cy="692700"/>
          </a:xfrm>
          <a:prstGeom prst="roundRect">
            <a:avLst>
              <a:gd fmla="val 0" name="adj"/>
            </a:avLst>
          </a:prstGeom>
          <a:solidFill>
            <a:srgbClr val="CFE2F3"/>
          </a:solidFill>
          <a:ln cap="flat" cmpd="sng" w="9525">
            <a:solidFill>
              <a:srgbClr val="EEEEEE"/>
            </a:solidFill>
            <a:prstDash val="solid"/>
            <a:round/>
            <a:headEnd len="sm" w="sm" type="none"/>
            <a:tailEnd len="sm" w="sm" type="none"/>
          </a:ln>
        </p:spPr>
        <p:txBody>
          <a:bodyPr anchorCtr="0" anchor="ctr" bIns="349450" lIns="349450" spcFirstLastPara="1" rIns="349450" wrap="square" tIns="349450">
            <a:noAutofit/>
          </a:bodyPr>
          <a:lstStyle/>
          <a:p>
            <a:pPr indent="0" lvl="0" marL="0" marR="0" rtl="0" algn="ctr">
              <a:lnSpc>
                <a:spcPct val="100000"/>
              </a:lnSpc>
              <a:spcBef>
                <a:spcPts val="0"/>
              </a:spcBef>
              <a:spcAft>
                <a:spcPts val="0"/>
              </a:spcAft>
              <a:buClr>
                <a:srgbClr val="000000"/>
              </a:buClr>
              <a:buSzPts val="5400"/>
              <a:buFont typeface="Arial"/>
              <a:buNone/>
            </a:pPr>
            <a:r>
              <a:rPr b="1" i="0" lang="en-US" sz="5400" u="none" cap="none" strike="noStrike">
                <a:solidFill>
                  <a:srgbClr val="000000"/>
                </a:solidFill>
                <a:latin typeface="Proxima Nova"/>
                <a:ea typeface="Proxima Nova"/>
                <a:cs typeface="Proxima Nova"/>
                <a:sym typeface="Proxima Nova"/>
              </a:rPr>
              <a:t>Methods</a:t>
            </a:r>
            <a:endParaRPr b="1" i="0" sz="5400" u="none" cap="none" strike="noStrike">
              <a:solidFill>
                <a:srgbClr val="000000"/>
              </a:solidFill>
              <a:latin typeface="Proxima Nova"/>
              <a:ea typeface="Proxima Nova"/>
              <a:cs typeface="Proxima Nova"/>
              <a:sym typeface="Proxima Nova"/>
            </a:endParaRPr>
          </a:p>
        </p:txBody>
      </p:sp>
      <p:sp>
        <p:nvSpPr>
          <p:cNvPr id="66" name="Google Shape;66;g3e14f18a840_2_0"/>
          <p:cNvSpPr/>
          <p:nvPr/>
        </p:nvSpPr>
        <p:spPr>
          <a:xfrm>
            <a:off x="21526550" y="9394899"/>
            <a:ext cx="10911000" cy="1317000"/>
          </a:xfrm>
          <a:prstGeom prst="roundRect">
            <a:avLst>
              <a:gd fmla="val 16667" name="adj"/>
            </a:avLst>
          </a:prstGeom>
          <a:solidFill>
            <a:srgbClr val="CFE2F3"/>
          </a:solidFill>
          <a:ln cap="flat" cmpd="sng" w="9525">
            <a:solidFill>
              <a:srgbClr val="EEEEEE"/>
            </a:solidFill>
            <a:prstDash val="solid"/>
            <a:round/>
            <a:headEnd len="sm" w="sm" type="none"/>
            <a:tailEnd len="sm" w="sm" type="none"/>
          </a:ln>
        </p:spPr>
        <p:txBody>
          <a:bodyPr anchorCtr="0" anchor="ctr" bIns="349450" lIns="349450" spcFirstLastPara="1" rIns="349450" wrap="square" tIns="349450">
            <a:noAutofit/>
          </a:bodyPr>
          <a:lstStyle/>
          <a:p>
            <a:pPr indent="0" lvl="0" marL="0" marR="0" rtl="0" algn="ctr">
              <a:lnSpc>
                <a:spcPct val="100000"/>
              </a:lnSpc>
              <a:spcBef>
                <a:spcPts val="0"/>
              </a:spcBef>
              <a:spcAft>
                <a:spcPts val="0"/>
              </a:spcAft>
              <a:buClr>
                <a:srgbClr val="000000"/>
              </a:buClr>
              <a:buSzPts val="5400"/>
              <a:buFont typeface="Arial"/>
              <a:buNone/>
            </a:pPr>
            <a:r>
              <a:rPr b="1" i="0" lang="en-US" sz="5400" u="none" cap="none" strike="noStrike">
                <a:solidFill>
                  <a:srgbClr val="000000"/>
                </a:solidFill>
                <a:latin typeface="Proxima Nova"/>
                <a:ea typeface="Proxima Nova"/>
                <a:cs typeface="Proxima Nova"/>
                <a:sym typeface="Proxima Nova"/>
              </a:rPr>
              <a:t>Impact &amp; Future Work</a:t>
            </a:r>
            <a:endParaRPr b="1" i="0" sz="5400" u="none" cap="none" strike="noStrike">
              <a:solidFill>
                <a:srgbClr val="000000"/>
              </a:solidFill>
              <a:latin typeface="Proxima Nova"/>
              <a:ea typeface="Proxima Nova"/>
              <a:cs typeface="Proxima Nova"/>
              <a:sym typeface="Proxima Nova"/>
            </a:endParaRPr>
          </a:p>
        </p:txBody>
      </p:sp>
      <p:sp>
        <p:nvSpPr>
          <p:cNvPr id="67" name="Google Shape;67;g3e14f18a840_2_0"/>
          <p:cNvSpPr txBox="1"/>
          <p:nvPr/>
        </p:nvSpPr>
        <p:spPr>
          <a:xfrm>
            <a:off x="9654175" y="7823325"/>
            <a:ext cx="11319000" cy="8493000"/>
          </a:xfrm>
          <a:prstGeom prst="rect">
            <a:avLst/>
          </a:prstGeom>
          <a:noFill/>
          <a:ln>
            <a:noFill/>
          </a:ln>
        </p:spPr>
        <p:txBody>
          <a:bodyPr anchorCtr="0" anchor="t" bIns="349450" lIns="349450" spcFirstLastPara="1" rIns="349450" wrap="square" tIns="349450">
            <a:spAutoFit/>
          </a:bodyPr>
          <a:lstStyle/>
          <a:p>
            <a:pPr indent="0" lvl="0" marL="0" rtl="0" algn="just">
              <a:lnSpc>
                <a:spcPct val="115000"/>
              </a:lnSpc>
              <a:spcBef>
                <a:spcPts val="1200"/>
              </a:spcBef>
              <a:spcAft>
                <a:spcPts val="0"/>
              </a:spcAft>
              <a:buClr>
                <a:schemeClr val="dk1"/>
              </a:buClr>
              <a:buSzPts val="1100"/>
              <a:buFont typeface="Arial"/>
              <a:buNone/>
            </a:pPr>
            <a:r>
              <a:rPr lang="en-US" sz="2900">
                <a:solidFill>
                  <a:schemeClr val="dk1"/>
                </a:solidFill>
              </a:rPr>
              <a:t>As shown in Fig. 2, our system uses a 2.4 GHz Wi-Fi router, Raspberry Pi, and laptop to detect presence behind obstructions. The router sends Wi-Fi packets while the Raspberry Pi uses Nexmon CSI to record how the signal changes after passing through walls or clutter. Tests are run under simple, moderate, and complex obstruction setups, with both vacant and human-present recordings collected. The CSI data is converted from PCAP files into cleaned </a:t>
            </a:r>
            <a:r>
              <a:rPr lang="en-US" sz="2900">
                <a:solidFill>
                  <a:srgbClr val="188038"/>
                </a:solidFill>
                <a:latin typeface="Roboto Mono"/>
                <a:ea typeface="Roboto Mono"/>
                <a:cs typeface="Roboto Mono"/>
                <a:sym typeface="Roboto Mono"/>
              </a:rPr>
              <a:t>.w</a:t>
            </a:r>
            <a:r>
              <a:rPr lang="en-US" sz="2900">
                <a:solidFill>
                  <a:schemeClr val="dk1"/>
                </a:solidFill>
              </a:rPr>
              <a:t> files, then processed into amplitude-based time windows. Each window is analyzed using STFT to extract low, mid, high-frequency energy, and entropy features. These features are passed into a binary Random Forest classifier, which predicts vacant or occupied and outputs a heatmap video where stronger red intensity represents higher confidence of human presence.</a:t>
            </a:r>
            <a:endParaRPr sz="2900">
              <a:solidFill>
                <a:schemeClr val="dk1"/>
              </a:solidFill>
            </a:endParaRPr>
          </a:p>
          <a:p>
            <a:pPr indent="0" lvl="0" marL="0" marR="0" rtl="0" algn="just">
              <a:lnSpc>
                <a:spcPct val="100000"/>
              </a:lnSpc>
              <a:spcBef>
                <a:spcPts val="1200"/>
              </a:spcBef>
              <a:spcAft>
                <a:spcPts val="0"/>
              </a:spcAft>
              <a:buClr>
                <a:srgbClr val="000000"/>
              </a:buClr>
              <a:buSzPts val="3400"/>
              <a:buFont typeface="Arial"/>
              <a:buNone/>
            </a:pPr>
            <a:r>
              <a:t/>
            </a:r>
            <a:endParaRPr sz="2900">
              <a:solidFill>
                <a:schemeClr val="dk1"/>
              </a:solidFill>
            </a:endParaRPr>
          </a:p>
        </p:txBody>
      </p:sp>
      <p:sp>
        <p:nvSpPr>
          <p:cNvPr id="68" name="Google Shape;68;g3e14f18a840_2_0"/>
          <p:cNvSpPr txBox="1"/>
          <p:nvPr/>
        </p:nvSpPr>
        <p:spPr>
          <a:xfrm>
            <a:off x="21242975" y="10475325"/>
            <a:ext cx="11675100" cy="6952800"/>
          </a:xfrm>
          <a:prstGeom prst="rect">
            <a:avLst/>
          </a:prstGeom>
          <a:noFill/>
          <a:ln>
            <a:noFill/>
          </a:ln>
        </p:spPr>
        <p:txBody>
          <a:bodyPr anchorCtr="0" anchor="t" bIns="349450" lIns="349450" spcFirstLastPara="1" rIns="349450" wrap="square" tIns="349450">
            <a:spAutoFit/>
          </a:bodyPr>
          <a:lstStyle/>
          <a:p>
            <a:pPr indent="0" lvl="0" marL="0" rtl="0" algn="just">
              <a:lnSpc>
                <a:spcPct val="115000"/>
              </a:lnSpc>
              <a:spcBef>
                <a:spcPts val="1200"/>
              </a:spcBef>
              <a:spcAft>
                <a:spcPts val="0"/>
              </a:spcAft>
              <a:buClr>
                <a:schemeClr val="dk1"/>
              </a:buClr>
              <a:buSzPts val="1100"/>
              <a:buFont typeface="Arial"/>
              <a:buNone/>
            </a:pPr>
            <a:r>
              <a:rPr lang="en-US" sz="2900">
                <a:latin typeface="Inter"/>
                <a:ea typeface="Inter"/>
                <a:cs typeface="Inter"/>
                <a:sym typeface="Inter"/>
              </a:rPr>
              <a:t>Our system was successfully able to detect human presence behind a door, showing that WiFi CSI can support low-cost NLOS sensing for search-and-rescue applications. However, our testing environment cannot fully replicate the chaos of real disaster scenarios, including multi-layered rubble, unstable structures, and cluttered materials. Future work includes systematically testing RF penetration through different construction materials, thicknesses, and distances, improving direct device-to-device detection rather than Pi-to-laptop processing, and developing a better display system beyond side-by-side video output.</a:t>
            </a:r>
            <a:endParaRPr sz="2900">
              <a:latin typeface="Inter"/>
              <a:ea typeface="Inter"/>
              <a:cs typeface="Inter"/>
              <a:sym typeface="Inter"/>
            </a:endParaRPr>
          </a:p>
          <a:p>
            <a:pPr indent="0" lvl="0" marL="0" marR="0" rtl="0" algn="just">
              <a:lnSpc>
                <a:spcPct val="100000"/>
              </a:lnSpc>
              <a:spcBef>
                <a:spcPts val="1200"/>
              </a:spcBef>
              <a:spcAft>
                <a:spcPts val="0"/>
              </a:spcAft>
              <a:buClr>
                <a:srgbClr val="000000"/>
              </a:buClr>
              <a:buSzPts val="3400"/>
              <a:buFont typeface="Arial"/>
              <a:buNone/>
            </a:pPr>
            <a:r>
              <a:t/>
            </a:r>
            <a:endParaRPr sz="2900">
              <a:latin typeface="Inter"/>
              <a:ea typeface="Inter"/>
              <a:cs typeface="Inter"/>
              <a:sym typeface="Inter"/>
            </a:endParaRPr>
          </a:p>
        </p:txBody>
      </p:sp>
      <p:sp>
        <p:nvSpPr>
          <p:cNvPr id="69" name="Google Shape;69;g3e14f18a840_2_0"/>
          <p:cNvSpPr txBox="1"/>
          <p:nvPr/>
        </p:nvSpPr>
        <p:spPr>
          <a:xfrm flipH="1" rot="5400000">
            <a:off x="29960831" y="989678"/>
            <a:ext cx="4304100" cy="2045100"/>
          </a:xfrm>
          <a:prstGeom prst="rect">
            <a:avLst/>
          </a:prstGeom>
          <a:noFill/>
          <a:ln>
            <a:noFill/>
          </a:ln>
        </p:spPr>
        <p:txBody>
          <a:bodyPr anchorCtr="0" anchor="t" bIns="349450" lIns="349450" spcFirstLastPara="1" rIns="349450" wrap="square" tIns="349450">
            <a:spAutoFit/>
          </a:bodyPr>
          <a:lstStyle/>
          <a:p>
            <a:pPr indent="0" lvl="0" marL="0" marR="0" rtl="0" algn="l">
              <a:lnSpc>
                <a:spcPct val="100000"/>
              </a:lnSpc>
              <a:spcBef>
                <a:spcPts val="0"/>
              </a:spcBef>
              <a:spcAft>
                <a:spcPts val="0"/>
              </a:spcAft>
              <a:buClr>
                <a:srgbClr val="000000"/>
              </a:buClr>
              <a:buSzPts val="3400"/>
              <a:buFont typeface="Arial"/>
              <a:buNone/>
            </a:pPr>
            <a:r>
              <a:rPr b="0" i="0" lang="en-US" sz="2900" u="none" cap="none" strike="noStrike">
                <a:solidFill>
                  <a:srgbClr val="000000"/>
                </a:solidFill>
                <a:latin typeface="Inter"/>
                <a:ea typeface="Inter"/>
                <a:cs typeface="Inter"/>
                <a:sym typeface="Inter"/>
              </a:rPr>
              <a:t>Systems Lab </a:t>
            </a:r>
            <a:endParaRPr sz="2900">
              <a:latin typeface="Inter"/>
              <a:ea typeface="Inter"/>
              <a:cs typeface="Inter"/>
              <a:sym typeface="Inter"/>
            </a:endParaRPr>
          </a:p>
          <a:p>
            <a:pPr indent="0" lvl="0" marL="0" marR="0" rtl="0" algn="l">
              <a:lnSpc>
                <a:spcPct val="100000"/>
              </a:lnSpc>
              <a:spcBef>
                <a:spcPts val="0"/>
              </a:spcBef>
              <a:spcAft>
                <a:spcPts val="0"/>
              </a:spcAft>
              <a:buClr>
                <a:srgbClr val="000000"/>
              </a:buClr>
              <a:buSzPts val="3400"/>
              <a:buFont typeface="Arial"/>
              <a:buNone/>
            </a:pPr>
            <a:r>
              <a:rPr b="0" i="0" lang="en-US" sz="2900" u="none" cap="none" strike="noStrike">
                <a:solidFill>
                  <a:srgbClr val="000000"/>
                </a:solidFill>
                <a:latin typeface="Inter"/>
                <a:ea typeface="Inter"/>
                <a:cs typeface="Inter"/>
                <a:sym typeface="Inter"/>
              </a:rPr>
              <a:t>Yilmaz </a:t>
            </a:r>
            <a:endParaRPr b="0" i="0" sz="2900" u="none" cap="none" strike="noStrike">
              <a:solidFill>
                <a:srgbClr val="000000"/>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3400"/>
              <a:buFont typeface="Arial"/>
              <a:buNone/>
            </a:pPr>
            <a:r>
              <a:rPr b="0" i="0" lang="en-US" sz="2900" u="none" cap="none" strike="noStrike">
                <a:solidFill>
                  <a:srgbClr val="000000"/>
                </a:solidFill>
                <a:latin typeface="Inter"/>
                <a:ea typeface="Inter"/>
                <a:cs typeface="Inter"/>
                <a:sym typeface="Inter"/>
              </a:rPr>
              <a:t>202</a:t>
            </a:r>
            <a:r>
              <a:rPr lang="en-US" sz="2900">
                <a:latin typeface="Inter"/>
                <a:ea typeface="Inter"/>
                <a:cs typeface="Inter"/>
                <a:sym typeface="Inter"/>
              </a:rPr>
              <a:t>6</a:t>
            </a:r>
            <a:r>
              <a:rPr b="0" i="0" lang="en-US" sz="2900" u="none" cap="none" strike="noStrike">
                <a:solidFill>
                  <a:srgbClr val="000000"/>
                </a:solidFill>
                <a:latin typeface="Inter"/>
                <a:ea typeface="Inter"/>
                <a:cs typeface="Inter"/>
                <a:sym typeface="Inter"/>
              </a:rPr>
              <a:t> </a:t>
            </a:r>
            <a:endParaRPr b="0" i="0" sz="2900" u="none" cap="none" strike="noStrike">
              <a:solidFill>
                <a:srgbClr val="000000"/>
              </a:solidFill>
              <a:latin typeface="Inter"/>
              <a:ea typeface="Inter"/>
              <a:cs typeface="Inter"/>
              <a:sym typeface="Inter"/>
            </a:endParaRPr>
          </a:p>
        </p:txBody>
      </p:sp>
      <p:sp>
        <p:nvSpPr>
          <p:cNvPr id="70" name="Google Shape;70;g3e14f18a840_2_0"/>
          <p:cNvSpPr txBox="1"/>
          <p:nvPr/>
        </p:nvSpPr>
        <p:spPr>
          <a:xfrm>
            <a:off x="9834261" y="6625416"/>
            <a:ext cx="7321200" cy="1044600"/>
          </a:xfrm>
          <a:prstGeom prst="rect">
            <a:avLst/>
          </a:prstGeom>
          <a:noFill/>
          <a:ln>
            <a:noFill/>
          </a:ln>
        </p:spPr>
        <p:txBody>
          <a:bodyPr anchorCtr="0" anchor="t" bIns="349450" lIns="349450" spcFirstLastPara="1" rIns="349450" wrap="square" tIns="349450">
            <a:spAutoFit/>
          </a:bodyPr>
          <a:lstStyle/>
          <a:p>
            <a:pPr indent="0" lvl="0" marL="0" marR="0" rtl="0" algn="ctr">
              <a:lnSpc>
                <a:spcPct val="100000"/>
              </a:lnSpc>
              <a:spcBef>
                <a:spcPts val="0"/>
              </a:spcBef>
              <a:spcAft>
                <a:spcPts val="0"/>
              </a:spcAft>
              <a:buClr>
                <a:srgbClr val="000000"/>
              </a:buClr>
              <a:buSzPts val="3400"/>
              <a:buFont typeface="Arial"/>
              <a:buNone/>
            </a:pPr>
            <a:r>
              <a:rPr b="0" i="1" lang="en-US" sz="2200" u="none" cap="none" strike="noStrike">
                <a:solidFill>
                  <a:srgbClr val="000000"/>
                </a:solidFill>
                <a:latin typeface="Inter"/>
                <a:ea typeface="Inter"/>
                <a:cs typeface="Inter"/>
                <a:sym typeface="Inter"/>
              </a:rPr>
              <a:t>Fig. </a:t>
            </a:r>
            <a:r>
              <a:rPr i="1" lang="en-US" sz="2200">
                <a:latin typeface="Inter"/>
                <a:ea typeface="Inter"/>
                <a:cs typeface="Inter"/>
                <a:sym typeface="Inter"/>
              </a:rPr>
              <a:t>2:</a:t>
            </a:r>
            <a:r>
              <a:rPr b="0" i="1" lang="en-US" sz="2200" u="none" cap="none" strike="noStrike">
                <a:solidFill>
                  <a:srgbClr val="000000"/>
                </a:solidFill>
                <a:latin typeface="Inter"/>
                <a:ea typeface="Inter"/>
                <a:cs typeface="Inter"/>
                <a:sym typeface="Inter"/>
              </a:rPr>
              <a:t> Systems Architecture</a:t>
            </a:r>
            <a:endParaRPr b="0" i="1" sz="2200" u="none" cap="none" strike="noStrike">
              <a:solidFill>
                <a:srgbClr val="000000"/>
              </a:solidFill>
              <a:latin typeface="Inter"/>
              <a:ea typeface="Inter"/>
              <a:cs typeface="Inter"/>
              <a:sym typeface="Inter"/>
            </a:endParaRPr>
          </a:p>
        </p:txBody>
      </p:sp>
      <p:sp>
        <p:nvSpPr>
          <p:cNvPr id="71" name="Google Shape;71;g3e14f18a840_2_0"/>
          <p:cNvSpPr txBox="1"/>
          <p:nvPr/>
        </p:nvSpPr>
        <p:spPr>
          <a:xfrm>
            <a:off x="24596450" y="3689050"/>
            <a:ext cx="7464300" cy="1044600"/>
          </a:xfrm>
          <a:prstGeom prst="rect">
            <a:avLst/>
          </a:prstGeom>
          <a:noFill/>
          <a:ln>
            <a:noFill/>
          </a:ln>
        </p:spPr>
        <p:txBody>
          <a:bodyPr anchorCtr="0" anchor="t" bIns="349450" lIns="349450" spcFirstLastPara="1" rIns="349450" wrap="square" tIns="349450">
            <a:spAutoFit/>
          </a:bodyPr>
          <a:lstStyle/>
          <a:p>
            <a:pPr indent="0" lvl="0" marL="0" marR="0" rtl="0" algn="ctr">
              <a:lnSpc>
                <a:spcPct val="100000"/>
              </a:lnSpc>
              <a:spcBef>
                <a:spcPts val="0"/>
              </a:spcBef>
              <a:spcAft>
                <a:spcPts val="0"/>
              </a:spcAft>
              <a:buClr>
                <a:srgbClr val="000000"/>
              </a:buClr>
              <a:buSzPts val="3400"/>
              <a:buFont typeface="Arial"/>
              <a:buNone/>
            </a:pPr>
            <a:r>
              <a:rPr b="0" i="1" lang="en-US" sz="2200" u="none" cap="none" strike="noStrike">
                <a:solidFill>
                  <a:srgbClr val="000000"/>
                </a:solidFill>
                <a:latin typeface="Inter"/>
                <a:ea typeface="Inter"/>
                <a:cs typeface="Inter"/>
                <a:sym typeface="Inter"/>
              </a:rPr>
              <a:t>Fig. </a:t>
            </a:r>
            <a:r>
              <a:rPr i="1" lang="en-US" sz="2200">
                <a:latin typeface="Inter"/>
                <a:ea typeface="Inter"/>
                <a:cs typeface="Inter"/>
                <a:sym typeface="Inter"/>
              </a:rPr>
              <a:t>3</a:t>
            </a:r>
            <a:r>
              <a:rPr b="0" i="1" lang="en-US" sz="2200" u="none" cap="none" strike="noStrike">
                <a:solidFill>
                  <a:srgbClr val="000000"/>
                </a:solidFill>
                <a:latin typeface="Inter"/>
                <a:ea typeface="Inter"/>
                <a:cs typeface="Inter"/>
                <a:sym typeface="Inter"/>
              </a:rPr>
              <a:t>: </a:t>
            </a:r>
            <a:r>
              <a:rPr i="1" lang="en-US" sz="2200">
                <a:latin typeface="Inter"/>
                <a:ea typeface="Inter"/>
                <a:cs typeface="Inter"/>
                <a:sym typeface="Inter"/>
              </a:rPr>
              <a:t>Red intensity blob correlating with motion</a:t>
            </a:r>
            <a:endParaRPr b="0" i="1" sz="2200" u="none" cap="none" strike="noStrike">
              <a:solidFill>
                <a:srgbClr val="000000"/>
              </a:solidFill>
              <a:latin typeface="Inter"/>
              <a:ea typeface="Inter"/>
              <a:cs typeface="Inter"/>
              <a:sym typeface="Inter"/>
            </a:endParaRPr>
          </a:p>
        </p:txBody>
      </p:sp>
      <p:pic>
        <p:nvPicPr>
          <p:cNvPr id="72" name="Google Shape;72;g3e14f18a840_2_0"/>
          <p:cNvPicPr preferRelativeResize="0"/>
          <p:nvPr/>
        </p:nvPicPr>
        <p:blipFill rotWithShape="1">
          <a:blip r:embed="rId3">
            <a:alphaModFix/>
          </a:blip>
          <a:srcRect b="4315" l="1736" r="1309" t="0"/>
          <a:stretch/>
        </p:blipFill>
        <p:spPr>
          <a:xfrm>
            <a:off x="9919746" y="2080602"/>
            <a:ext cx="6642550" cy="4912149"/>
          </a:xfrm>
          <a:prstGeom prst="rect">
            <a:avLst/>
          </a:prstGeom>
          <a:noFill/>
          <a:ln>
            <a:noFill/>
          </a:ln>
        </p:spPr>
      </p:pic>
      <p:pic>
        <p:nvPicPr>
          <p:cNvPr id="73" name="Google Shape;73;g3e14f18a840_2_0"/>
          <p:cNvPicPr preferRelativeResize="0"/>
          <p:nvPr/>
        </p:nvPicPr>
        <p:blipFill rotWithShape="1">
          <a:blip r:embed="rId4">
            <a:alphaModFix/>
          </a:blip>
          <a:srcRect b="10556" l="1254" r="0" t="2782"/>
          <a:stretch/>
        </p:blipFill>
        <p:spPr>
          <a:xfrm>
            <a:off x="25166738" y="94013"/>
            <a:ext cx="5448530" cy="3836376"/>
          </a:xfrm>
          <a:prstGeom prst="rect">
            <a:avLst/>
          </a:prstGeom>
          <a:noFill/>
          <a:ln>
            <a:noFill/>
          </a:ln>
        </p:spPr>
      </p:pic>
      <p:pic>
        <p:nvPicPr>
          <p:cNvPr id="74" name="Google Shape;74;g3e14f18a840_2_0"/>
          <p:cNvPicPr preferRelativeResize="0"/>
          <p:nvPr/>
        </p:nvPicPr>
        <p:blipFill rotWithShape="1">
          <a:blip r:embed="rId5">
            <a:alphaModFix/>
          </a:blip>
          <a:srcRect b="0" l="1980" r="0" t="0"/>
          <a:stretch/>
        </p:blipFill>
        <p:spPr>
          <a:xfrm>
            <a:off x="16562296" y="2050275"/>
            <a:ext cx="6758777" cy="5009550"/>
          </a:xfrm>
          <a:prstGeom prst="rect">
            <a:avLst/>
          </a:prstGeom>
          <a:noFill/>
          <a:ln>
            <a:noFill/>
          </a:ln>
        </p:spPr>
      </p:pic>
      <p:pic>
        <p:nvPicPr>
          <p:cNvPr id="75" name="Google Shape;75;g3e14f18a840_2_0"/>
          <p:cNvPicPr preferRelativeResize="0"/>
          <p:nvPr/>
        </p:nvPicPr>
        <p:blipFill rotWithShape="1">
          <a:blip r:embed="rId6">
            <a:alphaModFix/>
          </a:blip>
          <a:srcRect b="3070" l="0" r="0" t="7420"/>
          <a:stretch/>
        </p:blipFill>
        <p:spPr>
          <a:xfrm>
            <a:off x="329450" y="9521450"/>
            <a:ext cx="8524750" cy="3923200"/>
          </a:xfrm>
          <a:prstGeom prst="rect">
            <a:avLst/>
          </a:prstGeom>
          <a:noFill/>
          <a:ln>
            <a:noFill/>
          </a:ln>
        </p:spPr>
      </p:pic>
      <p:sp>
        <p:nvSpPr>
          <p:cNvPr id="76" name="Google Shape;76;g3e14f18a840_2_0"/>
          <p:cNvSpPr txBox="1"/>
          <p:nvPr/>
        </p:nvSpPr>
        <p:spPr>
          <a:xfrm>
            <a:off x="341899" y="13539274"/>
            <a:ext cx="7464300" cy="1595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500">
                <a:solidFill>
                  <a:schemeClr val="dk1"/>
                </a:solidFill>
                <a:latin typeface="Archivo"/>
                <a:ea typeface="Archivo"/>
                <a:cs typeface="Archivo"/>
                <a:sym typeface="Archivo"/>
              </a:rPr>
              <a:t>H = a+jb → one “CSI” scalar</a:t>
            </a:r>
            <a:endParaRPr sz="2500">
              <a:solidFill>
                <a:schemeClr val="dk1"/>
              </a:solidFill>
              <a:latin typeface="Archivo"/>
              <a:ea typeface="Archivo"/>
              <a:cs typeface="Archivo"/>
              <a:sym typeface="Archivo"/>
            </a:endParaRPr>
          </a:p>
          <a:p>
            <a:pPr indent="0" lvl="0" marL="0" rtl="0" algn="l">
              <a:spcBef>
                <a:spcPts val="1000"/>
              </a:spcBef>
              <a:spcAft>
                <a:spcPts val="0"/>
              </a:spcAft>
              <a:buNone/>
            </a:pPr>
            <a:r>
              <a:rPr lang="en-US" sz="2500">
                <a:solidFill>
                  <a:schemeClr val="dk1"/>
                </a:solidFill>
                <a:latin typeface="Archivo"/>
                <a:ea typeface="Archivo"/>
                <a:cs typeface="Archivo"/>
                <a:sym typeface="Archivo"/>
              </a:rPr>
              <a:t>|H| = sqrt(a</a:t>
            </a:r>
            <a:r>
              <a:rPr baseline="30000" lang="en-US" sz="2500">
                <a:solidFill>
                  <a:schemeClr val="dk1"/>
                </a:solidFill>
                <a:latin typeface="Archivo"/>
                <a:ea typeface="Archivo"/>
                <a:cs typeface="Archivo"/>
                <a:sym typeface="Archivo"/>
              </a:rPr>
              <a:t>2</a:t>
            </a:r>
            <a:r>
              <a:rPr lang="en-US" sz="2500">
                <a:solidFill>
                  <a:schemeClr val="dk1"/>
                </a:solidFill>
                <a:latin typeface="Archivo"/>
                <a:ea typeface="Archivo"/>
                <a:cs typeface="Archivo"/>
                <a:sym typeface="Archivo"/>
              </a:rPr>
              <a:t>+b</a:t>
            </a:r>
            <a:r>
              <a:rPr baseline="30000" lang="en-US" sz="2500">
                <a:solidFill>
                  <a:schemeClr val="dk1"/>
                </a:solidFill>
                <a:latin typeface="Archivo"/>
                <a:ea typeface="Archivo"/>
                <a:cs typeface="Archivo"/>
                <a:sym typeface="Archivo"/>
              </a:rPr>
              <a:t>2</a:t>
            </a:r>
            <a:r>
              <a:rPr lang="en-US" sz="2500">
                <a:solidFill>
                  <a:schemeClr val="dk1"/>
                </a:solidFill>
                <a:latin typeface="Archivo"/>
                <a:ea typeface="Archivo"/>
                <a:cs typeface="Archivo"/>
                <a:sym typeface="Archivo"/>
              </a:rPr>
              <a:t>) → amplitude</a:t>
            </a:r>
            <a:endParaRPr sz="2500">
              <a:solidFill>
                <a:schemeClr val="dk1"/>
              </a:solidFill>
              <a:latin typeface="Archivo"/>
              <a:ea typeface="Archivo"/>
              <a:cs typeface="Archivo"/>
              <a:sym typeface="Archivo"/>
            </a:endParaRPr>
          </a:p>
          <a:p>
            <a:pPr indent="0" lvl="0" marL="0" rtl="0" algn="l">
              <a:spcBef>
                <a:spcPts val="1000"/>
              </a:spcBef>
              <a:spcAft>
                <a:spcPts val="1000"/>
              </a:spcAft>
              <a:buNone/>
            </a:pPr>
            <a:r>
              <a:rPr lang="en-US" sz="2500">
                <a:solidFill>
                  <a:schemeClr val="dk1"/>
                </a:solidFill>
                <a:latin typeface="Archivo"/>
                <a:ea typeface="Archivo"/>
                <a:cs typeface="Archivo"/>
                <a:sym typeface="Archivo"/>
              </a:rPr>
              <a:t>θ = atan2(b, a) → phase</a:t>
            </a:r>
            <a:endParaRPr sz="2500">
              <a:solidFill>
                <a:schemeClr val="dk1"/>
              </a:solidFill>
              <a:latin typeface="Archivo"/>
              <a:ea typeface="Archivo"/>
              <a:cs typeface="Archivo"/>
              <a:sym typeface="Archivo"/>
            </a:endParaRPr>
          </a:p>
        </p:txBody>
      </p:sp>
      <p:pic>
        <p:nvPicPr>
          <p:cNvPr id="77" name="Google Shape;77;g3e14f18a840_2_0"/>
          <p:cNvPicPr preferRelativeResize="0"/>
          <p:nvPr/>
        </p:nvPicPr>
        <p:blipFill rotWithShape="1">
          <a:blip r:embed="rId7">
            <a:alphaModFix/>
          </a:blip>
          <a:srcRect b="0" l="0" r="19055" t="3559"/>
          <a:stretch/>
        </p:blipFill>
        <p:spPr>
          <a:xfrm>
            <a:off x="26238671" y="16527111"/>
            <a:ext cx="6198876" cy="4953964"/>
          </a:xfrm>
          <a:prstGeom prst="rect">
            <a:avLst/>
          </a:prstGeom>
          <a:noFill/>
          <a:ln>
            <a:noFill/>
          </a:ln>
        </p:spPr>
      </p:pic>
      <p:pic>
        <p:nvPicPr>
          <p:cNvPr id="78" name="Google Shape;78;g3e14f18a840_2_0"/>
          <p:cNvPicPr preferRelativeResize="0"/>
          <p:nvPr/>
        </p:nvPicPr>
        <p:blipFill rotWithShape="1">
          <a:blip r:embed="rId8">
            <a:alphaModFix/>
          </a:blip>
          <a:srcRect b="0" l="1359" r="19169" t="0"/>
          <a:stretch/>
        </p:blipFill>
        <p:spPr>
          <a:xfrm>
            <a:off x="20569162" y="16311475"/>
            <a:ext cx="6298204" cy="5169601"/>
          </a:xfrm>
          <a:prstGeom prst="rect">
            <a:avLst/>
          </a:prstGeom>
          <a:noFill/>
          <a:ln>
            <a:noFill/>
          </a:ln>
        </p:spPr>
      </p:pic>
      <p:sp>
        <p:nvSpPr>
          <p:cNvPr id="79" name="Google Shape;79;g3e14f18a840_2_0"/>
          <p:cNvSpPr txBox="1"/>
          <p:nvPr/>
        </p:nvSpPr>
        <p:spPr>
          <a:xfrm>
            <a:off x="-76209" y="1513475"/>
            <a:ext cx="2406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300"/>
              <a:t> </a:t>
            </a:r>
            <a:r>
              <a:rPr lang="en-US" sz="2800"/>
              <a:t>Demo</a:t>
            </a:r>
            <a:endParaRPr sz="2800"/>
          </a:p>
        </p:txBody>
      </p:sp>
      <p:pic>
        <p:nvPicPr>
          <p:cNvPr id="80" name="Google Shape;80;g3e14f18a840_2_0"/>
          <p:cNvPicPr preferRelativeResize="0"/>
          <p:nvPr/>
        </p:nvPicPr>
        <p:blipFill rotWithShape="1">
          <a:blip r:embed="rId7">
            <a:alphaModFix/>
          </a:blip>
          <a:srcRect b="0" l="84367" r="6786" t="3559"/>
          <a:stretch/>
        </p:blipFill>
        <p:spPr>
          <a:xfrm>
            <a:off x="32318385" y="17181303"/>
            <a:ext cx="702075" cy="3836375"/>
          </a:xfrm>
          <a:prstGeom prst="rect">
            <a:avLst/>
          </a:prstGeom>
          <a:noFill/>
          <a:ln>
            <a:noFill/>
          </a:ln>
        </p:spPr>
      </p:pic>
      <p:pic>
        <p:nvPicPr>
          <p:cNvPr id="81" name="Google Shape;81;g3e14f18a840_2_0"/>
          <p:cNvPicPr preferRelativeResize="0"/>
          <p:nvPr/>
        </p:nvPicPr>
        <p:blipFill>
          <a:blip r:embed="rId9">
            <a:alphaModFix/>
          </a:blip>
          <a:stretch>
            <a:fillRect/>
          </a:stretch>
        </p:blipFill>
        <p:spPr>
          <a:xfrm>
            <a:off x="4752975" y="13505924"/>
            <a:ext cx="4018200" cy="1805325"/>
          </a:xfrm>
          <a:prstGeom prst="rect">
            <a:avLst/>
          </a:prstGeom>
          <a:noFill/>
          <a:ln>
            <a:noFill/>
          </a:ln>
        </p:spPr>
      </p:pic>
      <p:pic>
        <p:nvPicPr>
          <p:cNvPr id="82" name="Google Shape;82;g3e14f18a840_2_0"/>
          <p:cNvPicPr preferRelativeResize="0"/>
          <p:nvPr/>
        </p:nvPicPr>
        <p:blipFill rotWithShape="1">
          <a:blip r:embed="rId10">
            <a:alphaModFix/>
          </a:blip>
          <a:srcRect b="37782" l="10731" r="10770" t="11667"/>
          <a:stretch/>
        </p:blipFill>
        <p:spPr>
          <a:xfrm>
            <a:off x="17240186" y="-93354"/>
            <a:ext cx="2693123" cy="1734299"/>
          </a:xfrm>
          <a:prstGeom prst="rect">
            <a:avLst/>
          </a:prstGeom>
          <a:noFill/>
          <a:ln>
            <a:noFill/>
          </a:ln>
        </p:spPr>
      </p:pic>
      <p:sp>
        <p:nvSpPr>
          <p:cNvPr id="83" name="Google Shape;83;g3e14f18a840_2_0"/>
          <p:cNvSpPr txBox="1"/>
          <p:nvPr/>
        </p:nvSpPr>
        <p:spPr>
          <a:xfrm>
            <a:off x="21242975" y="21004745"/>
            <a:ext cx="11100300" cy="1044600"/>
          </a:xfrm>
          <a:prstGeom prst="rect">
            <a:avLst/>
          </a:prstGeom>
          <a:noFill/>
          <a:ln>
            <a:noFill/>
          </a:ln>
        </p:spPr>
        <p:txBody>
          <a:bodyPr anchorCtr="0" anchor="t" bIns="349450" lIns="349450" spcFirstLastPara="1" rIns="349450" wrap="square" tIns="349450">
            <a:spAutoFit/>
          </a:bodyPr>
          <a:lstStyle/>
          <a:p>
            <a:pPr indent="0" lvl="0" marL="0" marR="0" rtl="0" algn="ctr">
              <a:lnSpc>
                <a:spcPct val="100000"/>
              </a:lnSpc>
              <a:spcBef>
                <a:spcPts val="0"/>
              </a:spcBef>
              <a:spcAft>
                <a:spcPts val="0"/>
              </a:spcAft>
              <a:buClr>
                <a:srgbClr val="000000"/>
              </a:buClr>
              <a:buSzPts val="3400"/>
              <a:buFont typeface="Arial"/>
              <a:buNone/>
            </a:pPr>
            <a:r>
              <a:rPr b="0" i="1" lang="en-US" sz="2200" u="none" cap="none" strike="noStrike">
                <a:solidFill>
                  <a:srgbClr val="000000"/>
                </a:solidFill>
                <a:latin typeface="Inter"/>
                <a:ea typeface="Inter"/>
                <a:cs typeface="Inter"/>
                <a:sym typeface="Inter"/>
              </a:rPr>
              <a:t>Fig. </a:t>
            </a:r>
            <a:r>
              <a:rPr i="1" lang="en-US" sz="2200">
                <a:latin typeface="Inter"/>
                <a:ea typeface="Inter"/>
                <a:cs typeface="Inter"/>
                <a:sym typeface="Inter"/>
              </a:rPr>
              <a:t>5</a:t>
            </a:r>
            <a:r>
              <a:rPr b="0" i="1" lang="en-US" sz="2200" u="none" cap="none" strike="noStrike">
                <a:solidFill>
                  <a:srgbClr val="000000"/>
                </a:solidFill>
                <a:latin typeface="Inter"/>
                <a:ea typeface="Inter"/>
                <a:cs typeface="Inter"/>
                <a:sym typeface="Inter"/>
              </a:rPr>
              <a:t>: </a:t>
            </a:r>
            <a:r>
              <a:rPr i="1" lang="en-US" sz="2200">
                <a:latin typeface="Inter"/>
                <a:ea typeface="Inter"/>
                <a:cs typeface="Inter"/>
                <a:sym typeface="Inter"/>
              </a:rPr>
              <a:t>Heatmap Comparison: Still vs. No presence</a:t>
            </a:r>
            <a:endParaRPr b="0" i="1" sz="2200" u="none" cap="none" strike="noStrike">
              <a:solidFill>
                <a:srgbClr val="000000"/>
              </a:solidFill>
              <a:latin typeface="Inter"/>
              <a:ea typeface="Inter"/>
              <a:cs typeface="Inter"/>
              <a:sym typeface="Inter"/>
            </a:endParaRPr>
          </a:p>
        </p:txBody>
      </p:sp>
      <p:sp>
        <p:nvSpPr>
          <p:cNvPr id="84" name="Google Shape;84;g3e14f18a840_2_0"/>
          <p:cNvSpPr txBox="1"/>
          <p:nvPr/>
        </p:nvSpPr>
        <p:spPr>
          <a:xfrm>
            <a:off x="-958321" y="15167671"/>
            <a:ext cx="11100300" cy="1044600"/>
          </a:xfrm>
          <a:prstGeom prst="rect">
            <a:avLst/>
          </a:prstGeom>
          <a:noFill/>
          <a:ln>
            <a:noFill/>
          </a:ln>
        </p:spPr>
        <p:txBody>
          <a:bodyPr anchorCtr="0" anchor="t" bIns="349450" lIns="349450" spcFirstLastPara="1" rIns="349450" wrap="square" tIns="349450">
            <a:spAutoFit/>
          </a:bodyPr>
          <a:lstStyle/>
          <a:p>
            <a:pPr indent="0" lvl="0" marL="0" marR="0" rtl="0" algn="ctr">
              <a:lnSpc>
                <a:spcPct val="100000"/>
              </a:lnSpc>
              <a:spcBef>
                <a:spcPts val="0"/>
              </a:spcBef>
              <a:spcAft>
                <a:spcPts val="0"/>
              </a:spcAft>
              <a:buClr>
                <a:srgbClr val="000000"/>
              </a:buClr>
              <a:buSzPts val="3400"/>
              <a:buFont typeface="Arial"/>
              <a:buNone/>
            </a:pPr>
            <a:r>
              <a:rPr b="0" i="1" lang="en-US" sz="2200" u="none" cap="none" strike="noStrike">
                <a:solidFill>
                  <a:srgbClr val="000000"/>
                </a:solidFill>
                <a:latin typeface="Inter"/>
                <a:ea typeface="Inter"/>
                <a:cs typeface="Inter"/>
                <a:sym typeface="Inter"/>
              </a:rPr>
              <a:t>Fig. </a:t>
            </a:r>
            <a:r>
              <a:rPr i="1" lang="en-US" sz="2200">
                <a:latin typeface="Inter"/>
                <a:ea typeface="Inter"/>
                <a:cs typeface="Inter"/>
                <a:sym typeface="Inter"/>
              </a:rPr>
              <a:t>1</a:t>
            </a:r>
            <a:r>
              <a:rPr b="0" i="1" lang="en-US" sz="2200" u="none" cap="none" strike="noStrike">
                <a:solidFill>
                  <a:srgbClr val="000000"/>
                </a:solidFill>
                <a:latin typeface="Inter"/>
                <a:ea typeface="Inter"/>
                <a:cs typeface="Inter"/>
                <a:sym typeface="Inter"/>
              </a:rPr>
              <a:t>: </a:t>
            </a:r>
            <a:r>
              <a:rPr i="1" lang="en-US" sz="2200">
                <a:latin typeface="Inter"/>
                <a:ea typeface="Inter"/>
                <a:cs typeface="Inter"/>
                <a:sym typeface="Inter"/>
              </a:rPr>
              <a:t>CSI Matrix Visualization and Formulas</a:t>
            </a:r>
            <a:endParaRPr b="0" i="1" sz="2200" u="none" cap="none" strike="noStrike">
              <a:solidFill>
                <a:srgbClr val="000000"/>
              </a:solidFill>
              <a:latin typeface="Inter"/>
              <a:ea typeface="Inter"/>
              <a:cs typeface="Inter"/>
              <a:sym typeface="Inter"/>
            </a:endParaRPr>
          </a:p>
        </p:txBody>
      </p:sp>
      <p:pic>
        <p:nvPicPr>
          <p:cNvPr id="85" name="Google Shape;85;g3e14f18a840_2_0"/>
          <p:cNvPicPr preferRelativeResize="0"/>
          <p:nvPr/>
        </p:nvPicPr>
        <p:blipFill>
          <a:blip r:embed="rId11">
            <a:alphaModFix/>
          </a:blip>
          <a:stretch>
            <a:fillRect/>
          </a:stretch>
        </p:blipFill>
        <p:spPr>
          <a:xfrm>
            <a:off x="75650" y="31050"/>
            <a:ext cx="1734300" cy="1734300"/>
          </a:xfrm>
          <a:prstGeom prst="rect">
            <a:avLst/>
          </a:prstGeom>
          <a:noFill/>
          <a:ln>
            <a:noFill/>
          </a:ln>
        </p:spPr>
      </p:pic>
      <p:pic>
        <p:nvPicPr>
          <p:cNvPr id="86" name="Google Shape;86;g3e14f18a840_2_0"/>
          <p:cNvPicPr preferRelativeResize="0"/>
          <p:nvPr/>
        </p:nvPicPr>
        <p:blipFill>
          <a:blip r:embed="rId12">
            <a:alphaModFix/>
          </a:blip>
          <a:stretch>
            <a:fillRect/>
          </a:stretch>
        </p:blipFill>
        <p:spPr>
          <a:xfrm>
            <a:off x="23953363" y="4403737"/>
            <a:ext cx="7875298" cy="4517846"/>
          </a:xfrm>
          <a:prstGeom prst="rect">
            <a:avLst/>
          </a:prstGeom>
          <a:noFill/>
          <a:ln>
            <a:noFill/>
          </a:ln>
        </p:spPr>
      </p:pic>
      <p:sp>
        <p:nvSpPr>
          <p:cNvPr id="87" name="Google Shape;87;g3e14f18a840_2_0"/>
          <p:cNvSpPr txBox="1"/>
          <p:nvPr/>
        </p:nvSpPr>
        <p:spPr>
          <a:xfrm>
            <a:off x="23953375" y="8654038"/>
            <a:ext cx="7464300" cy="1044600"/>
          </a:xfrm>
          <a:prstGeom prst="rect">
            <a:avLst/>
          </a:prstGeom>
          <a:noFill/>
          <a:ln>
            <a:noFill/>
          </a:ln>
        </p:spPr>
        <p:txBody>
          <a:bodyPr anchorCtr="0" anchor="t" bIns="349450" lIns="349450" spcFirstLastPara="1" rIns="349450" wrap="square" tIns="349450">
            <a:spAutoFit/>
          </a:bodyPr>
          <a:lstStyle/>
          <a:p>
            <a:pPr indent="0" lvl="0" marL="0" marR="0" rtl="0" algn="ctr">
              <a:lnSpc>
                <a:spcPct val="100000"/>
              </a:lnSpc>
              <a:spcBef>
                <a:spcPts val="0"/>
              </a:spcBef>
              <a:spcAft>
                <a:spcPts val="0"/>
              </a:spcAft>
              <a:buClr>
                <a:srgbClr val="000000"/>
              </a:buClr>
              <a:buSzPts val="3400"/>
              <a:buFont typeface="Arial"/>
              <a:buNone/>
            </a:pPr>
            <a:r>
              <a:rPr b="0" i="1" lang="en-US" sz="2200" u="none" cap="none" strike="noStrike">
                <a:solidFill>
                  <a:srgbClr val="000000"/>
                </a:solidFill>
                <a:latin typeface="Inter"/>
                <a:ea typeface="Inter"/>
                <a:cs typeface="Inter"/>
                <a:sym typeface="Inter"/>
              </a:rPr>
              <a:t>Fig. </a:t>
            </a:r>
            <a:r>
              <a:rPr i="1" lang="en-US" sz="2200">
                <a:latin typeface="Inter"/>
                <a:ea typeface="Inter"/>
                <a:cs typeface="Inter"/>
                <a:sym typeface="Inter"/>
              </a:rPr>
              <a:t>4</a:t>
            </a:r>
            <a:r>
              <a:rPr b="0" i="1" lang="en-US" sz="2200" u="none" cap="none" strike="noStrike">
                <a:solidFill>
                  <a:srgbClr val="000000"/>
                </a:solidFill>
                <a:latin typeface="Inter"/>
                <a:ea typeface="Inter"/>
                <a:cs typeface="Inter"/>
                <a:sym typeface="Inter"/>
              </a:rPr>
              <a:t>: Accuracy Across </a:t>
            </a:r>
            <a:r>
              <a:rPr i="1" lang="en-US" sz="2200">
                <a:latin typeface="Inter"/>
                <a:ea typeface="Inter"/>
                <a:cs typeface="Inter"/>
                <a:sym typeface="Inter"/>
              </a:rPr>
              <a:t>Obstruction Complexities</a:t>
            </a:r>
            <a:endParaRPr b="0" i="1" sz="2200" u="none" cap="none" strike="noStrike">
              <a:solidFill>
                <a:srgbClr val="000000"/>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